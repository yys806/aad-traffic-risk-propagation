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3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282B8BE-9813-4F9C-9424-DF5000CB1F96}">
          <p14:sldIdLst>
            <p14:sldId id="256"/>
            <p14:sldId id="257"/>
            <p14:sldId id="259"/>
            <p14:sldId id="261"/>
            <p14:sldId id="260"/>
            <p14:sldId id="263"/>
            <p14:sldId id="262"/>
            <p14:sldId id="264"/>
          </p14:sldIdLst>
        </p14:section>
        <p14:section name="backup" id="{80B74918-3201-4711-93A8-07D95620389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E6A0D-4BEA-9A76-4FE3-9787D7151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3BE106-2322-4E5A-F833-1A976202A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BADC35-DD3A-F327-CFC2-AE62A4DAA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E1D67-0C4E-0556-97AE-699D4A5D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81D8DA-E8E1-AF00-90C8-DB18495D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4A6B0-11DC-4560-322A-C3FD214B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0ACB63-A065-ADA7-5622-95D17C2C0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0B049-E8A2-85E1-6550-2A5469E97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A6F3C4-ABC3-D712-5CCE-C7E34B53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ADDE17-2239-7A43-5DB1-E60DA10F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83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D7784-CCE7-7F2E-501A-455549128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773A8C-8C8B-C62D-8CD2-93E73C1D0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073BE-676E-ABC7-0452-35593064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A69114-C911-2C9E-F218-455C9F45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A2A95-CC15-BA54-9800-FFECE507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33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8E15A-97F1-DDAB-DD01-39D12E3F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286665-66E3-FACE-E9B6-D8D7B3D82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CC348-F2A7-D4BD-6769-FD714863A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66823A-BCE9-FB6D-CB73-4F7BD2C9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C087FF-5811-A3BB-03E1-3865577A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0792EA-8FDD-0B49-E7A8-8D3257E0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199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2690D-6A04-1CE4-9EEA-D9922CE8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9BDF58-A9DD-E479-D9F0-8AD66E6A1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BE81A9-2941-D3D0-7D8A-328BC1AA8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297D9-E059-4133-D559-8636B04DF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367B64-8C25-2A7A-B9A1-CFE64D908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19670F-5DC5-7A68-A5C4-46A43E639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1D5141-134E-A290-8726-FD7EFA54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4BE14F-FD91-DC3D-A8B9-A3B16AD1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97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A4704-7E07-9094-5C0F-9E2EAF9F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752B62-20B1-7E4A-BEB0-7A8405A9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6B5D9D-F87E-7CFB-297B-5572671F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41F44B-219D-DC6D-74ED-E218074D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17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DFDB65-1053-C01B-E060-223B36BD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ABD61B-D5D1-92D6-0A8C-B033EF19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CA52B1-7148-AA70-13C0-B6BAAF10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99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FBABA-80F5-47AE-F21C-149747131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77CBF9-F5C9-938E-A471-E45F38CB3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070C36-6782-3C8F-378F-7C7AC95E2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11CCD0-DAD5-80FE-70F4-45F0E4A8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A39FA0-AD46-86BA-26D2-64040F4B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766C87-9E69-4D6A-DC81-7590C517F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53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D49EB-B51E-6B3A-7F32-425358F3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7E8067-AF55-4C21-699E-88B3C4C68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B3E05F-8E5A-413C-C4B2-5B807DBDB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AC059C-F42A-5E35-6AA7-CE9113B3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32F399-1045-CA20-C846-98E271CA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F35455-EC81-6CEE-563D-C2B17DBC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8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EEF7D-ABE5-B8A1-32A0-13F6B6A4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B7D032-64C9-A543-33A1-851FCAC08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E6580-2A77-ADF0-E42D-ABE26FCD0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F35D2-E686-0062-28C2-38FD0C0C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063F56-ABA2-39E8-053E-06C59902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58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581CD6-828C-3B84-BA6B-D5A7FE38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C3364C-6778-9928-CB47-2D301D17C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5CADC5-3979-21ED-61AF-72415065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90FC28-1148-37F4-20DC-BC369089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947770-6301-E3B5-9957-5F4FF97B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0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9CE81D-2CB7-DE24-4C6E-918D7099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E48908-6F93-A9E3-7634-348D3921D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89E98D-895E-8227-717F-4886458F4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2EB28-339B-410A-8025-664B931C3EA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2D635A-9F07-1FF9-FA84-6AB4AC176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73952-2E1C-2D01-34C9-880B25615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3FC7B-5BC1-43B4-94C5-6B7A632F8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2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ata.transportation.gov/stories/s/Next-Generation-Simulation-NGSIM-Open-Data/i5zb-xe34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open-traffic.epfl.ch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ata.transportation.gov/Automobiles/Safety-Pilot-Model-Deployment-Data/deww-aa3r/about_data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1492369" y="2507412"/>
            <a:ext cx="9578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AAD </a:t>
            </a:r>
            <a:r>
              <a:rPr lang="zh-CN" altLang="en-US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课题数据集整理与研究进展</a:t>
            </a:r>
            <a:r>
              <a:rPr lang="en-US" altLang="zh-CN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-Stage 0</a:t>
            </a:r>
            <a:endParaRPr lang="zh-CN" altLang="en-US" sz="4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D20917-897D-29D2-5EB7-D6FE8EF0A20E}"/>
              </a:ext>
            </a:extLst>
          </p:cNvPr>
          <p:cNvSpPr txBox="1"/>
          <p:nvPr/>
        </p:nvSpPr>
        <p:spPr>
          <a:xfrm>
            <a:off x="5155722" y="3329796"/>
            <a:ext cx="1670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2026.10.15</a:t>
            </a:r>
            <a:endParaRPr lang="zh-CN" altLang="en-US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AA891A-96BA-3C6E-3AFD-EBE7F31F791D}"/>
              </a:ext>
            </a:extLst>
          </p:cNvPr>
          <p:cNvSpPr txBox="1"/>
          <p:nvPr/>
        </p:nvSpPr>
        <p:spPr>
          <a:xfrm>
            <a:off x="5433204" y="3749617"/>
            <a:ext cx="1314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禹尧珅</a:t>
            </a:r>
          </a:p>
        </p:txBody>
      </p:sp>
    </p:spTree>
    <p:extLst>
      <p:ext uri="{BB962C8B-B14F-4D97-AF65-F5344CB8AC3E}">
        <p14:creationId xmlns:p14="http://schemas.microsoft.com/office/powerpoint/2010/main" val="270361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2290315" y="2145102"/>
            <a:ext cx="82109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三个真实数据集以及具体用途</a:t>
            </a:r>
            <a:endParaRPr lang="en-US" altLang="zh-CN" sz="4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当前梳理进度与结果</a:t>
            </a:r>
            <a:endParaRPr lang="en-US" altLang="zh-CN" sz="4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4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后续阶段规划</a:t>
            </a:r>
            <a:endParaRPr lang="en-US" altLang="zh-CN" sz="4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97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2822393" y="-46191"/>
            <a:ext cx="6852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1.1 NGSIM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：跟驰风险测量与校准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5A079F-7898-721F-AA0E-9C4B640103D0}"/>
                  </a:ext>
                </a:extLst>
              </p:cNvPr>
              <p:cNvSpPr txBox="1"/>
              <p:nvPr/>
            </p:nvSpPr>
            <p:spPr>
              <a:xfrm>
                <a:off x="1" y="295918"/>
                <a:ext cx="6739274" cy="6853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1.</a:t>
                </a:r>
                <a:r>
                  <a:rPr lang="zh-CN" altLang="en-US" sz="2000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数据集介绍</a:t>
                </a:r>
                <a:endParaRPr lang="en-US" altLang="zh-CN" sz="2000" b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介绍：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NGSIM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Next Generation Simulation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）由美国联邦公路管理局（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FHWA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）组织采集，通过同步摄像机获取车辆轨迹数据，时间分辨率约为 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0.1 s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10 Hz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）。</a:t>
                </a:r>
                <a:endParaRPr lang="en-US" altLang="zh-CN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数据覆盖：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US-101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I-80 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高速公路及 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Lankershim Boulevard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Peachtree Street 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城市道路。</a:t>
                </a:r>
                <a:endParaRPr lang="en-US" altLang="zh-CN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数据特点：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包含逐车运动状态、车道位置及车辆前后关系，可用于重建纵向跟驰交互。</a:t>
                </a:r>
                <a:endParaRPr lang="en-US" altLang="zh-CN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数据集地址：</a:t>
                </a:r>
                <a:r>
                  <a:rPr lang="zh-CN" altLang="en-US">
                    <a:hlinkClick r:id="rId2"/>
                  </a:rPr>
                  <a:t>下一代仿真（</a:t>
                </a:r>
                <a:r>
                  <a:rPr lang="en-US" altLang="zh-CN">
                    <a:hlinkClick r:id="rId2"/>
                  </a:rPr>
                  <a:t>NGSIM</a:t>
                </a:r>
                <a:r>
                  <a:rPr lang="zh-CN" altLang="en-US">
                    <a:hlinkClick r:id="rId2"/>
                  </a:rPr>
                  <a:t>）开放数据</a:t>
                </a:r>
                <a:endParaRPr lang="en-US" altLang="zh-CN"/>
              </a:p>
              <a:p>
                <a:pPr>
                  <a:buClr>
                    <a:srgbClr val="FF0000"/>
                  </a:buClr>
                </a:pPr>
                <a:r>
                  <a:rPr lang="en-US" altLang="zh-CN" sz="2000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2.</a:t>
                </a:r>
                <a:r>
                  <a:rPr lang="zh-CN" altLang="en-US" sz="2000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我们实际使用的数据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US-101</a:t>
                </a: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洛杉矶高速公路，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 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个观测时间窗，使用原始 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TXT 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轨迹。（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327.64 MB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lang="en-US" altLang="zh-CN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Lankershim Boulevard</a:t>
                </a: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洛杉矶城市道路，两个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15min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观测段，使用合并 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CSV 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轨迹。（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184.90 MB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lang="en-US" altLang="zh-CN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buClr>
                    <a:srgbClr val="FF0000"/>
                  </a:buClr>
                </a:pPr>
                <a:r>
                  <a:rPr lang="en-US" altLang="zh-CN" sz="2000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3.</a:t>
                </a:r>
                <a:r>
                  <a:rPr lang="zh-CN" altLang="en-US" sz="2000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我们需要得到的数据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基础跟驰状态分布：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车辆速度、加速度、净间距、闭合速度及 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TTC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DRAC 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的分布与分位数。</a:t>
                </a:r>
                <a:endParaRPr lang="en-US" altLang="zh-CN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计算连续风险指标：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𝑇𝑇𝐶</m:t>
                            </m:r>
                          </m:num>
                          <m:den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，获得风险均值、分位数及时间尺度参数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altLang="zh-CN"/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b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风险事件与数据质量统计：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提取风险事件，统计事件数量、持续时间、最小 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TTC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、最大 </a:t>
                </a:r>
                <a:r>
                  <a:rPr lang="en-US" altLang="zh-CN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DRAC</a:t>
                </a:r>
                <a:r>
                  <a:rPr lang="zh-CN" altLang="en-US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、确认时间及单位可评价跟驰时间内的事件频率；同时统计有效、缺失、无效和不适用数据的比例。</a:t>
                </a:r>
                <a:endParaRPr lang="en-US" altLang="zh-CN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5A079F-7898-721F-AA0E-9C4B64010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95918"/>
                <a:ext cx="6739274" cy="6853736"/>
              </a:xfrm>
              <a:prstGeom prst="rect">
                <a:avLst/>
              </a:prstGeom>
              <a:blipFill>
                <a:blip r:embed="rId3"/>
                <a:stretch>
                  <a:fillRect l="-904" t="-712" r="-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9E4EFAB6-0F67-6F13-7494-FB3426A0C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274" y="976782"/>
            <a:ext cx="2630928" cy="147732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B82A8BE-995E-E088-72D4-512463DDC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0127" y="976782"/>
            <a:ext cx="2672264" cy="1477328"/>
          </a:xfrm>
          <a:prstGeom prst="rect">
            <a:avLst/>
          </a:prstGeom>
        </p:spPr>
      </p:pic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32E16AE7-D2D5-C238-39F7-3935DD37E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979724"/>
              </p:ext>
            </p:extLst>
          </p:nvPr>
        </p:nvGraphicFramePr>
        <p:xfrm>
          <a:off x="6739275" y="2915775"/>
          <a:ext cx="5368378" cy="33963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164">
                  <a:extLst>
                    <a:ext uri="{9D8B030D-6E8A-4147-A177-3AD203B41FA5}">
                      <a16:colId xmlns:a16="http://schemas.microsoft.com/office/drawing/2014/main" val="2452029067"/>
                    </a:ext>
                  </a:extLst>
                </a:gridCol>
                <a:gridCol w="2826998">
                  <a:extLst>
                    <a:ext uri="{9D8B030D-6E8A-4147-A177-3AD203B41FA5}">
                      <a16:colId xmlns:a16="http://schemas.microsoft.com/office/drawing/2014/main" val="259117740"/>
                    </a:ext>
                  </a:extLst>
                </a:gridCol>
                <a:gridCol w="1447216">
                  <a:extLst>
                    <a:ext uri="{9D8B030D-6E8A-4147-A177-3AD203B41FA5}">
                      <a16:colId xmlns:a16="http://schemas.microsoft.com/office/drawing/2014/main" val="2347464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类别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原始字段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数据含义与用途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487645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车辆与时间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Vehicle_ID、Frame_ID、Global_Time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车辆标识、轨迹帧号、时间同步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39352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位置与车道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Local_X、Local_Y、Lane_ID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车辆位置、车道及轨迹变化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70550"/>
                  </a:ext>
                </a:extLst>
              </a:tr>
              <a:tr h="3557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运动状态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v_Vel、v_Acc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车辆速度、纵向加速度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25638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跟驰关系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Preceeding / Preceding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前车编号，用于匹配前后车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930228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车辆间距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Space_Hdwy、v_Length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车头间距、车辆长度，用于计算净间距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571329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7554D7D0-A42B-501F-3B11-B5A2FF664F4E}"/>
              </a:ext>
            </a:extLst>
          </p:cNvPr>
          <p:cNvSpPr txBox="1"/>
          <p:nvPr/>
        </p:nvSpPr>
        <p:spPr>
          <a:xfrm>
            <a:off x="7520909" y="2494882"/>
            <a:ext cx="712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US-101</a:t>
            </a:r>
            <a:endParaRPr lang="zh-CN" altLang="en-US" sz="12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C8AED1-FA03-506D-0874-FA03A52B875A}"/>
              </a:ext>
            </a:extLst>
          </p:cNvPr>
          <p:cNvSpPr txBox="1"/>
          <p:nvPr/>
        </p:nvSpPr>
        <p:spPr>
          <a:xfrm>
            <a:off x="10057075" y="2494882"/>
            <a:ext cx="1651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Lankershim Boulevard</a:t>
            </a:r>
            <a:endParaRPr lang="zh-CN" altLang="en-US" sz="12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3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2822393" y="-46191"/>
            <a:ext cx="6852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1.2 pNEUMA 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：城市交通运动学校准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5A079F-7898-721F-AA0E-9C4B640103D0}"/>
              </a:ext>
            </a:extLst>
          </p:cNvPr>
          <p:cNvSpPr txBox="1"/>
          <p:nvPr/>
        </p:nvSpPr>
        <p:spPr>
          <a:xfrm>
            <a:off x="0" y="608508"/>
            <a:ext cx="6739275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数据集介绍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简介：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pNEUMA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是希腊雅典城市交通轨迹数据集，通过多架无人机协同航拍获取车辆轨迹，完整数据集涵盖约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万辆车的运动记录。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数据覆盖：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雅典城市中心道路网络，包含汽车、出租车、公交车、摩托车及其他不同类型车辆。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数据特点：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包含车辆位置、速度、纵横向加速度及车型信息，可用于研究复杂城市交通中的车辆运动特征。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数据集地址：</a:t>
            </a:r>
            <a:r>
              <a:rPr lang="en-US" altLang="zh-CN">
                <a:hlinkClick r:id="rId2"/>
              </a:rPr>
              <a:t> pNEUMA | open-traffic – An open data initiative</a:t>
            </a:r>
            <a:endParaRPr lang="en-US" altLang="zh-CN"/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我们实际使用的数据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pNEUMA d1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2018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08:00–08:30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，雅典城市交通轨迹，使用原始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CSV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文件（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73.51 MB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，总约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15.76 GB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研究用途：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提取城市交通速度、纵向加速度及车型分布，为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SUMO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车辆运动状态与参数范围提供现实参考。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我们需要得到的数据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车辆速度分布：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提取速度均值、分位数及不同车型的速度分布。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车辆加速度分布：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提取纵向加速度的分布、分位数及加减速特征。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车型与数据质量统计：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统计各车型的车辆数量、组成比例及有效、缺失、异常数据情况。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32E16AE7-D2D5-C238-39F7-3935DD37E764}"/>
              </a:ext>
            </a:extLst>
          </p:cNvPr>
          <p:cNvGraphicFramePr>
            <a:graphicFrameLocks noGrp="1"/>
          </p:cNvGraphicFramePr>
          <p:nvPr/>
        </p:nvGraphicFramePr>
        <p:xfrm>
          <a:off x="6677505" y="3402938"/>
          <a:ext cx="5247726" cy="30001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9280">
                  <a:extLst>
                    <a:ext uri="{9D8B030D-6E8A-4147-A177-3AD203B41FA5}">
                      <a16:colId xmlns:a16="http://schemas.microsoft.com/office/drawing/2014/main" val="2452029067"/>
                    </a:ext>
                  </a:extLst>
                </a:gridCol>
                <a:gridCol w="2583756">
                  <a:extLst>
                    <a:ext uri="{9D8B030D-6E8A-4147-A177-3AD203B41FA5}">
                      <a16:colId xmlns:a16="http://schemas.microsoft.com/office/drawing/2014/main" val="259117740"/>
                    </a:ext>
                  </a:extLst>
                </a:gridCol>
                <a:gridCol w="1414690">
                  <a:extLst>
                    <a:ext uri="{9D8B030D-6E8A-4147-A177-3AD203B41FA5}">
                      <a16:colId xmlns:a16="http://schemas.microsoft.com/office/drawing/2014/main" val="2347464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类别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字段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数据含义与用途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487645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车辆标识与车型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track_id、vehicle_type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轨迹标识、车型分类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39352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位置与时间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latitude、longitude、time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车辆位置、运动时间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70550"/>
                  </a:ext>
                </a:extLst>
              </a:tr>
              <a:tr h="3557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运动状态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speed、longitudinal_accel、lateral_accel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速度、纵横向加速度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25638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轨迹统计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traveled_distance、average_speed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行驶距离、平均速度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930228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7554D7D0-A42B-501F-3B11-B5A2FF664F4E}"/>
              </a:ext>
            </a:extLst>
          </p:cNvPr>
          <p:cNvSpPr txBox="1"/>
          <p:nvPr/>
        </p:nvSpPr>
        <p:spPr>
          <a:xfrm>
            <a:off x="8852178" y="3125939"/>
            <a:ext cx="1007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pNEUMA</a:t>
            </a:r>
            <a:endParaRPr lang="zh-CN" altLang="en-US" sz="12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5443D6-6439-A765-6A7C-07BD1EF0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620" y="496853"/>
            <a:ext cx="5133495" cy="26290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364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2822393" y="-46191"/>
            <a:ext cx="6852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1.3 SPMD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：车联网通信可观测性分析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5A079F-7898-721F-AA0E-9C4B640103D0}"/>
              </a:ext>
            </a:extLst>
          </p:cNvPr>
          <p:cNvSpPr txBox="1"/>
          <p:nvPr/>
        </p:nvSpPr>
        <p:spPr>
          <a:xfrm>
            <a:off x="1" y="608508"/>
            <a:ext cx="66775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数据集介绍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简介：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SPMD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Safety Pilot Model Deployment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）是美国交通部开展的真实车联网试验，采集联网车辆与路侧设备的运行及通信相关数据。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数据覆盖：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美国密歇根州安娜堡（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Ann Arbor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），涵盖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2012–2013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年真实道路交通运行记录。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数据特点：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包含基础安全消息（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BSM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）、车辆运动状态及接收侧远端车辆信息，可用于分析真实车联网数据的通信可观测性。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数据集地址：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hlinkClick r:id="rId2"/>
              </a:rPr>
              <a:t>SPMD</a:t>
            </a:r>
            <a:endParaRPr lang="en-US" altLang="zh-CN"/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我们实际使用的数据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RV_RX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远端车辆接收状态记录，包含车辆标识、时间、位置、速度、相对距离等信息（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783.80 MB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数据划分：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按设备与行程划分校准集和锁定留出集，当前使用校准行程分析接收状态的时间连续性。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我们需要得到的数据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接收状态统计：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统计接收侧观测记录数、设备行程数及远端车辆状态流数量。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时间连续性统计：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计算同一远端车辆相邻观测的时间间隔、超阈值中断次数及时间异常数量。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通信证据边界：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明确实际可观测的接收状态信息，并评估数据是否支持逐包时延、丢包和消息采用的识别。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32E16AE7-D2D5-C238-39F7-3935DD37E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907129"/>
              </p:ext>
            </p:extLst>
          </p:nvPr>
        </p:nvGraphicFramePr>
        <p:xfrm>
          <a:off x="6606755" y="3418687"/>
          <a:ext cx="5514495" cy="3278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2787">
                  <a:extLst>
                    <a:ext uri="{9D8B030D-6E8A-4147-A177-3AD203B41FA5}">
                      <a16:colId xmlns:a16="http://schemas.microsoft.com/office/drawing/2014/main" val="2452029067"/>
                    </a:ext>
                  </a:extLst>
                </a:gridCol>
                <a:gridCol w="2443658">
                  <a:extLst>
                    <a:ext uri="{9D8B030D-6E8A-4147-A177-3AD203B41FA5}">
                      <a16:colId xmlns:a16="http://schemas.microsoft.com/office/drawing/2014/main" val="259117740"/>
                    </a:ext>
                  </a:extLst>
                </a:gridCol>
                <a:gridCol w="1758050">
                  <a:extLst>
                    <a:ext uri="{9D8B030D-6E8A-4147-A177-3AD203B41FA5}">
                      <a16:colId xmlns:a16="http://schemas.microsoft.com/office/drawing/2014/main" val="2347464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类别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原始字段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数据含义与用途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487645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设备与行程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DeviceID、Trip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接收设备标识、行程划分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39352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远端车辆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RV_ID、RV_Type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远端车辆标识及类型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70550"/>
                  </a:ext>
                </a:extLst>
              </a:tr>
              <a:tr h="3557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时间信息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观测时间及连续性分析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25638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车辆运动状态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Speed、Longitudinal_Accel、Brake_Status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速度、纵向加速度及制动状态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930228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位置与相对关系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Latitude、Longitude、Range、Range_Rate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车辆位置、相对距离及距离变化率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354493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7554D7D0-A42B-501F-3B11-B5A2FF664F4E}"/>
              </a:ext>
            </a:extLst>
          </p:cNvPr>
          <p:cNvSpPr txBox="1"/>
          <p:nvPr/>
        </p:nvSpPr>
        <p:spPr>
          <a:xfrm>
            <a:off x="8960894" y="3141688"/>
            <a:ext cx="1007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SPMD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302F7E-F5B5-543D-E032-A79EE79A2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016" y="538583"/>
            <a:ext cx="4657882" cy="26395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9476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2974793" y="87159"/>
            <a:ext cx="6852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三个数据集的当前整理进度</a:t>
            </a: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32E16AE7-D2D5-C238-39F7-3935DD37E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716656"/>
              </p:ext>
            </p:extLst>
          </p:nvPr>
        </p:nvGraphicFramePr>
        <p:xfrm>
          <a:off x="539750" y="749300"/>
          <a:ext cx="11112501" cy="46288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5455">
                  <a:extLst>
                    <a:ext uri="{9D8B030D-6E8A-4147-A177-3AD203B41FA5}">
                      <a16:colId xmlns:a16="http://schemas.microsoft.com/office/drawing/2014/main" val="2452029067"/>
                    </a:ext>
                  </a:extLst>
                </a:gridCol>
                <a:gridCol w="4924322">
                  <a:extLst>
                    <a:ext uri="{9D8B030D-6E8A-4147-A177-3AD203B41FA5}">
                      <a16:colId xmlns:a16="http://schemas.microsoft.com/office/drawing/2014/main" val="259117740"/>
                    </a:ext>
                  </a:extLst>
                </a:gridCol>
                <a:gridCol w="3542724">
                  <a:extLst>
                    <a:ext uri="{9D8B030D-6E8A-4147-A177-3AD203B41FA5}">
                      <a16:colId xmlns:a16="http://schemas.microsoft.com/office/drawing/2014/main" val="2347464253"/>
                    </a:ext>
                  </a:extLst>
                </a:gridCol>
              </a:tblGrid>
              <a:tr h="655889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数据集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已完成工作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当前状态及剩余工作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487645"/>
                  </a:ext>
                </a:extLst>
              </a:tr>
              <a:tr h="1321174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NGSIM</a:t>
                      </a:r>
                      <a:r>
                        <a:rPr 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Stage 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① 完成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US-101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Lankershim 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轨迹接入、前车匹配与质量审计。 </a:t>
                      </a:r>
                      <a:b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② 完成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TTC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DRAC 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测量、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P2 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风险事件提取及连续风险校准。 </a:t>
                      </a:r>
                      <a:b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③ 完成正式科学验收。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已完成。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已建立限定范围内的真实跟驰风险参考；独立物理真实性仍未验证。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39352"/>
                  </a:ext>
                </a:extLst>
              </a:tr>
              <a:tr h="1321174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pNEUMA</a:t>
                      </a:r>
                      <a:r>
                        <a:rPr 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Stage 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① 已下载一个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 min 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轨迹文件（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73.51 MB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）。 ② 已实现宽格式轨迹解析及逐时刻状态展开接口。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待开展</a:t>
                      </a:r>
                      <a:r>
                        <a:rPr lang="zh-CN" altLang="en-US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尚需完成速度、纵向加速度、车型分布及数据质量统计。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70550"/>
                  </a:ext>
                </a:extLst>
              </a:tr>
              <a:tr h="1115012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SPMD</a:t>
                      </a:r>
                      <a:r>
                        <a:rPr 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Stage 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① 已下载 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RV_RX 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接收状态数据及配套表。 </a:t>
                      </a:r>
                      <a:b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② 已完成校准行程划分、接收状态连续性审计及可观测性边界分析。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待开展，有限证据已验证</a:t>
                      </a:r>
                      <a:r>
                        <a:rPr lang="zh-CN" altLang="en-US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</a:t>
                      </a:r>
                      <a:r>
                        <a:rPr lang="en-US" altLang="zh-CN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Packet </a:t>
                      </a:r>
                      <a:r>
                        <a:rPr lang="zh-CN" altLang="en-US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原始数据尚未取得，无法直接识别逐包时延、真实丢包率及消息采用行为。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2563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9240223-FA8E-985E-6462-CCC9DF81F856}"/>
              </a:ext>
            </a:extLst>
          </p:cNvPr>
          <p:cNvSpPr txBox="1"/>
          <p:nvPr/>
        </p:nvSpPr>
        <p:spPr>
          <a:xfrm>
            <a:off x="539750" y="5633289"/>
            <a:ext cx="11112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当前进展：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NGSIM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风险校准已完成，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SPMD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接收状态证据边界已明确；下一步重点开展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pNEUMA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运动学校准及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SUMO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现实覆盖检验。</a:t>
            </a:r>
            <a:endParaRPr lang="en-US" altLang="zh-CN" sz="2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672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2974793" y="23733"/>
            <a:ext cx="6852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2.2 NGSIM 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跟驰风险测量与校准结果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662BC7-0486-890E-1F87-DF891D696FFE}"/>
              </a:ext>
            </a:extLst>
          </p:cNvPr>
          <p:cNvSpPr txBox="1"/>
          <p:nvPr/>
        </p:nvSpPr>
        <p:spPr>
          <a:xfrm>
            <a:off x="127000" y="608508"/>
            <a:ext cx="12134850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数据处理结果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数据规模：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完成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US-101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三个观测时段及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Lankershim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的轨迹处理，共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5,706,252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条车辆状态记录。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风险测量：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完成前车匹配、净间距与闭合速度计算，获得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2,211,378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条有效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TTC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记录，并计算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DRAC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、识别数据质量状态。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风险事件识别结果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正式识别规则（</a:t>
            </a: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TTC &lt; 2.0 s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，且可靠连续风险观测首末时间跨度 ≥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0.2 s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；事件确认时刻取实际满足持续条件的观测时刻。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事件识别结果：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共识别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4,545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P2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跟驰风险代理事件，其中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US-101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三个时段分别为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543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732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1,043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个，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Lankershim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2,227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风险事件频率：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US-101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三个时段分别为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17.54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19.74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25.96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Lankershim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70.12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（单位：事件数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 P2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可评价跟驰车辆小时）。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连续风险指标校准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风险映射：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采用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ρ = exp(−TTC/τ)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，将有效闭合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TTC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映射为连续风险代理强度，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τ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为风险映射的时间尺度参数。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参数校准：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分别计算四个来源可靠闭合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TTC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的时间加权中位数，排序后取中间两项的平均值，得到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τ = 15.3643 s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校准结果：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获得各来源连续风险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ρ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的均值、分位数及时间尺度敏感性结果，形成真实跟驰风险分布参考。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结果适用范围与限制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适用范围：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完成四个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NGSIM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校准来源、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 ms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时间分辨率下的纵向跟驰风险代理测量与描述性校准，为后续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SUMO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现实对比提供参考。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当前限制：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极端风险状态的独立物理真实性尚未验证，采样间隔变化会影响事件识别；当前结果不代表事故概率，也不构成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AAD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核心因果效应证据。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97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15090-2274-1BEB-2BA1-A76ABB0A035D}"/>
              </a:ext>
            </a:extLst>
          </p:cNvPr>
          <p:cNvSpPr txBox="1"/>
          <p:nvPr/>
        </p:nvSpPr>
        <p:spPr>
          <a:xfrm>
            <a:off x="4070168" y="61833"/>
            <a:ext cx="6852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后续研究阶段规划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662BC7-0486-890E-1F87-DF891D696FFE}"/>
              </a:ext>
            </a:extLst>
          </p:cNvPr>
          <p:cNvSpPr txBox="1"/>
          <p:nvPr/>
        </p:nvSpPr>
        <p:spPr>
          <a:xfrm>
            <a:off x="57150" y="723527"/>
            <a:ext cx="1213485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1.Stage0.3-0.4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：真实数据校准与通信证据边界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Stage 0.3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pNEUMA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完成城市交通速度、纵向加速度及车型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分布统计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，建立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SUMO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城市运动学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现实参考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Stage 0.4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SPMD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已完成接收状态连续性及有限证据边界核验；后续根据数据可获取性，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评估是否需要补充逐包通信数据。</a:t>
            </a:r>
            <a:endParaRPr lang="en-US" altLang="zh-CN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Stage 0.5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SUMO 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现实覆盖验证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构建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不含指定远端消息作用的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SUMO 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校准场景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，利用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NGSIM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跟驰风险与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pNEUMA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城市运动学统计作为现实参考。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比较仿真与真实交通的运动状态、风险指标及事件特征，评估仿真场景对现实交通特征的覆盖程度。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Stage 0.6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：数值验证与实验协议锁定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完成风险测量、物理传播路径和时间步长等数值验证，明确科学容差、实验参数及评价规则。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完成前置条件检查并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冻结实验协议（</a:t>
            </a: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Protocol Lock</a:t>
            </a: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Stage I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正式实验提供基础。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 Stage I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：类超距作用的因果识别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在物理隔离场景中构建源风险与信息通道的四格反事实实验，识别远端风险信息对目标区域总体风险的增量效应。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验证消息生成、传输、采用、实际车辆响应及风险变化的作用链；通过负对照和物理连通场景的时间先后检验，排除主要替代解释。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5. Stage II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：安全约束下的信息采用与控制优化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Stage I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核心效应及机制证据通过预设门槛后，研究远端风险信息的采用策略与车辆控制优化。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在保证安全的前提下，综合评估风险降低、行驶舒适性、通行效率及极端风险代价。</a:t>
            </a: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FF0000"/>
              </a:buClr>
            </a:pPr>
            <a:endParaRPr lang="en-US" altLang="zh-CN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4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2F55D00-A38B-4B6F-691F-1D6554270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92" y="123811"/>
            <a:ext cx="7311258" cy="395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17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1906</Words>
  <Application>Microsoft Office PowerPoint</Application>
  <PresentationFormat>宽屏</PresentationFormat>
  <Paragraphs>149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尧珅 禹</dc:creator>
  <cp:lastModifiedBy>尧珅 禹</cp:lastModifiedBy>
  <cp:revision>11</cp:revision>
  <dcterms:created xsi:type="dcterms:W3CDTF">2026-10-13T03:32:53Z</dcterms:created>
  <dcterms:modified xsi:type="dcterms:W3CDTF">2026-10-15T04:14:28Z</dcterms:modified>
</cp:coreProperties>
</file>